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7" r:id="rId4"/>
    <p:sldId id="258" r:id="rId5"/>
    <p:sldId id="259" r:id="rId6"/>
    <p:sldId id="281" r:id="rId7"/>
    <p:sldId id="268" r:id="rId8"/>
    <p:sldId id="261" r:id="rId9"/>
    <p:sldId id="274" r:id="rId10"/>
    <p:sldId id="275" r:id="rId11"/>
    <p:sldId id="276" r:id="rId12"/>
    <p:sldId id="263" r:id="rId13"/>
    <p:sldId id="265" r:id="rId14"/>
    <p:sldId id="269" r:id="rId15"/>
    <p:sldId id="264" r:id="rId16"/>
    <p:sldId id="266" r:id="rId17"/>
    <p:sldId id="280" r:id="rId18"/>
    <p:sldId id="270" r:id="rId19"/>
    <p:sldId id="267" r:id="rId20"/>
    <p:sldId id="271" r:id="rId21"/>
    <p:sldId id="273" r:id="rId22"/>
    <p:sldId id="278" r:id="rId23"/>
    <p:sldId id="277" r:id="rId24"/>
    <p:sldId id="279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19" autoAdjust="0"/>
    <p:restoredTop sz="94660"/>
  </p:normalViewPr>
  <p:slideViewPr>
    <p:cSldViewPr snapToGrid="0">
      <p:cViewPr varScale="1">
        <p:scale>
          <a:sx n="69" d="100"/>
          <a:sy n="69" d="100"/>
        </p:scale>
        <p:origin x="60" y="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2800" dirty="0"/>
              <a:t>Time consumed for distance</a:t>
            </a:r>
            <a:r>
              <a:rPr lang="en-US" sz="2800" baseline="0" dirty="0"/>
              <a:t> calculation of 1000 Atoms</a:t>
            </a:r>
          </a:p>
          <a:p>
            <a:pPr>
              <a:defRPr/>
            </a:pPr>
            <a:r>
              <a:rPr lang="en-US" sz="2800" baseline="0" dirty="0"/>
              <a:t>Intel i7 4770k</a:t>
            </a:r>
            <a:endParaRPr lang="en-US" sz="28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time (s)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Non-continguous</c:v>
                </c:pt>
                <c:pt idx="1">
                  <c:v>Continguous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181</c:v>
                </c:pt>
                <c:pt idx="1">
                  <c:v>70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22662880"/>
        <c:axId val="422666800"/>
      </c:barChart>
      <c:catAx>
        <c:axId val="422662880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24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2400"/>
                  <a:t>Data packing type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24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22666800"/>
        <c:crosses val="autoZero"/>
        <c:auto val="1"/>
        <c:lblAlgn val="ctr"/>
        <c:lblOffset val="100"/>
        <c:noMultiLvlLbl val="0"/>
      </c:catAx>
      <c:valAx>
        <c:axId val="4226668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4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2400"/>
                  <a:t>Time spent (s)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24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2266288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Time</a:t>
            </a:r>
            <a:r>
              <a:rPr lang="en-US" baseline="0"/>
              <a:t> consumed under Different Data Structures</a:t>
            </a:r>
          </a:p>
          <a:p>
            <a:pPr>
              <a:defRPr/>
            </a:pPr>
            <a:r>
              <a:rPr lang="en-US" baseline="0"/>
              <a:t>Intel i7 4770k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Sheet1!$B$15</c:f>
              <c:strCache>
                <c:ptCount val="1"/>
                <c:pt idx="0">
                  <c:v>time (s)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Sheet1!$A$16:$A$17</c:f>
              <c:strCache>
                <c:ptCount val="2"/>
                <c:pt idx="0">
                  <c:v>Map</c:v>
                </c:pt>
                <c:pt idx="1">
                  <c:v>Array</c:v>
                </c:pt>
              </c:strCache>
            </c:strRef>
          </c:cat>
          <c:val>
            <c:numRef>
              <c:f>Sheet1!$B$16:$B$17</c:f>
              <c:numCache>
                <c:formatCode>General</c:formatCode>
                <c:ptCount val="2"/>
                <c:pt idx="0">
                  <c:v>79</c:v>
                </c:pt>
                <c:pt idx="1">
                  <c:v>33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22667192"/>
        <c:axId val="422664448"/>
      </c:barChart>
      <c:catAx>
        <c:axId val="422667192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400"/>
                  <a:t>Data Structure Type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4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22664448"/>
        <c:crosses val="autoZero"/>
        <c:auto val="1"/>
        <c:lblAlgn val="ctr"/>
        <c:lblOffset val="100"/>
        <c:noMultiLvlLbl val="0"/>
      </c:catAx>
      <c:valAx>
        <c:axId val="4226644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2000"/>
                  <a:t>Time spent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2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2266719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2400"/>
              <a:t>RotAlign</a:t>
            </a:r>
            <a:r>
              <a:rPr lang="en-US" sz="2400" baseline="0"/>
              <a:t> Optimizations over Time</a:t>
            </a:r>
            <a:endParaRPr lang="en-US" sz="240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Sheet1!$A$31:$A$34</c:f>
              <c:strCache>
                <c:ptCount val="4"/>
                <c:pt idx="0">
                  <c:v>Original</c:v>
                </c:pt>
                <c:pt idx="1">
                  <c:v>O2 optimization</c:v>
                </c:pt>
                <c:pt idx="2">
                  <c:v>Matrix revision</c:v>
                </c:pt>
                <c:pt idx="3">
                  <c:v>Fragments string*</c:v>
                </c:pt>
              </c:strCache>
            </c:strRef>
          </c:cat>
          <c:val>
            <c:numRef>
              <c:f>Sheet1!$B$31:$B$34</c:f>
              <c:numCache>
                <c:formatCode>General</c:formatCode>
                <c:ptCount val="4"/>
                <c:pt idx="0">
                  <c:v>13</c:v>
                </c:pt>
                <c:pt idx="1">
                  <c:v>6.1</c:v>
                </c:pt>
                <c:pt idx="2">
                  <c:v>3.4</c:v>
                </c:pt>
                <c:pt idx="3">
                  <c:v>1.1000000000000001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22666408"/>
        <c:axId val="422661312"/>
      </c:barChart>
      <c:catAx>
        <c:axId val="422666408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2000"/>
                  <a:t>Code</a:t>
                </a:r>
                <a:r>
                  <a:rPr lang="en-US" sz="2000" baseline="0"/>
                  <a:t> Improvement Stage</a:t>
                </a:r>
                <a:endParaRPr lang="en-US" sz="200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2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22661312"/>
        <c:crosses val="autoZero"/>
        <c:auto val="1"/>
        <c:lblAlgn val="ctr"/>
        <c:lblOffset val="100"/>
        <c:noMultiLvlLbl val="0"/>
      </c:catAx>
      <c:valAx>
        <c:axId val="4226613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2000" dirty="0"/>
                  <a:t>Time spent</a:t>
                </a:r>
                <a:r>
                  <a:rPr lang="en-US" sz="2000" baseline="0" dirty="0"/>
                  <a:t> per Query </a:t>
                </a:r>
                <a:r>
                  <a:rPr lang="en-US" sz="2000" baseline="0" dirty="0" smtClean="0"/>
                  <a:t>position (s)</a:t>
                </a:r>
                <a:endParaRPr lang="en-US" sz="2000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2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226664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CDF75-4A5C-4047-BBB6-4E49945BFCF5}" type="datetimeFigureOut">
              <a:rPr lang="en-US" smtClean="0"/>
              <a:t>2/18/2018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8AE14-57DE-47DF-BA7C-7D2EA679F9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8366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CDF75-4A5C-4047-BBB6-4E49945BFCF5}" type="datetimeFigureOut">
              <a:rPr lang="en-US" smtClean="0"/>
              <a:t>2/18/2018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8AE14-57DE-47DF-BA7C-7D2EA679F9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6013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CDF75-4A5C-4047-BBB6-4E49945BFCF5}" type="datetimeFigureOut">
              <a:rPr lang="en-US" smtClean="0"/>
              <a:t>2/18/2018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8AE14-57DE-47DF-BA7C-7D2EA679F9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0368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CDF75-4A5C-4047-BBB6-4E49945BFCF5}" type="datetimeFigureOut">
              <a:rPr lang="en-US" smtClean="0"/>
              <a:t>2/18/2018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8AE14-57DE-47DF-BA7C-7D2EA679F9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1983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CDF75-4A5C-4047-BBB6-4E49945BFCF5}" type="datetimeFigureOut">
              <a:rPr lang="en-US" smtClean="0"/>
              <a:t>2/18/2018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8AE14-57DE-47DF-BA7C-7D2EA679F9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7296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CDF75-4A5C-4047-BBB6-4E49945BFCF5}" type="datetimeFigureOut">
              <a:rPr lang="en-US" smtClean="0"/>
              <a:t>2/18/2018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8AE14-57DE-47DF-BA7C-7D2EA679F9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27293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CDF75-4A5C-4047-BBB6-4E49945BFCF5}" type="datetimeFigureOut">
              <a:rPr lang="en-US" smtClean="0"/>
              <a:t>2/18/2018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8AE14-57DE-47DF-BA7C-7D2EA679F9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46252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CDF75-4A5C-4047-BBB6-4E49945BFCF5}" type="datetimeFigureOut">
              <a:rPr lang="en-US" smtClean="0"/>
              <a:t>2/18/2018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8AE14-57DE-47DF-BA7C-7D2EA679F9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8617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CDF75-4A5C-4047-BBB6-4E49945BFCF5}" type="datetimeFigureOut">
              <a:rPr lang="en-US" smtClean="0"/>
              <a:t>2/18/2018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8AE14-57DE-47DF-BA7C-7D2EA679F9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142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CDF75-4A5C-4047-BBB6-4E49945BFCF5}" type="datetimeFigureOut">
              <a:rPr lang="en-US" smtClean="0"/>
              <a:t>2/18/2018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8AE14-57DE-47DF-BA7C-7D2EA679F9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8353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CDF75-4A5C-4047-BBB6-4E49945BFCF5}" type="datetimeFigureOut">
              <a:rPr lang="en-US" smtClean="0"/>
              <a:t>2/18/2018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8AE14-57DE-47DF-BA7C-7D2EA679F9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3436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ACDF75-4A5C-4047-BBB6-4E49945BFCF5}" type="datetimeFigureOut">
              <a:rPr lang="en-US" smtClean="0"/>
              <a:t>2/18/2018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98AE14-57DE-47DF-BA7C-7D2EA679F9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6797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Programming &amp; You</a:t>
            </a:r>
            <a:br>
              <a:rPr lang="en-US" dirty="0" smtClean="0"/>
            </a:br>
            <a:r>
              <a:rPr lang="en-US" sz="2700" dirty="0" smtClean="0"/>
              <a:t>A presentation that I wish I had when I joined this lab</a:t>
            </a:r>
            <a:endParaRPr lang="en-US" sz="27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Jarrett Johnson</a:t>
            </a:r>
          </a:p>
          <a:p>
            <a:r>
              <a:rPr lang="en-US" dirty="0" smtClean="0"/>
              <a:t>1/9/18</a:t>
            </a:r>
          </a:p>
          <a:p>
            <a:r>
              <a:rPr lang="en-US" dirty="0" smtClean="0"/>
              <a:t>Zhang Lab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91384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520675" y="96982"/>
            <a:ext cx="15696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/>
              <a:t>Outline</a:t>
            </a:r>
            <a:endParaRPr lang="en-US" sz="3600" dirty="0"/>
          </a:p>
        </p:txBody>
      </p:sp>
      <p:sp>
        <p:nvSpPr>
          <p:cNvPr id="3" name="TextBox 2"/>
          <p:cNvSpPr txBox="1"/>
          <p:nvPr/>
        </p:nvSpPr>
        <p:spPr>
          <a:xfrm>
            <a:off x="746264" y="1896045"/>
            <a:ext cx="6439199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 smtClean="0"/>
              <a:t>CPU architecture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 smtClean="0"/>
              <a:t>Cache-friendly Data structures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 smtClean="0"/>
              <a:t>Data Locality</a:t>
            </a:r>
          </a:p>
        </p:txBody>
      </p:sp>
    </p:spTree>
    <p:extLst>
      <p:ext uri="{BB962C8B-B14F-4D97-AF65-F5344CB8AC3E}">
        <p14:creationId xmlns:p14="http://schemas.microsoft.com/office/powerpoint/2010/main" val="41062070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705730" y="0"/>
            <a:ext cx="47805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/>
              <a:t>Programming Languages</a:t>
            </a:r>
            <a:endParaRPr lang="en-US" sz="3600" dirty="0"/>
          </a:p>
        </p:txBody>
      </p:sp>
      <p:sp>
        <p:nvSpPr>
          <p:cNvPr id="6" name="TextBox 5"/>
          <p:cNvSpPr txBox="1"/>
          <p:nvPr/>
        </p:nvSpPr>
        <p:spPr>
          <a:xfrm>
            <a:off x="635427" y="1646663"/>
            <a:ext cx="2138983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 smtClean="0"/>
              <a:t>Java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 smtClean="0"/>
              <a:t>C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 smtClean="0"/>
              <a:t>C++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 smtClean="0"/>
              <a:t>Python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 smtClean="0"/>
              <a:t>Fortran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 err="1" smtClean="0"/>
              <a:t>Etc</a:t>
            </a:r>
            <a:r>
              <a:rPr lang="en-US" sz="3600" dirty="0" smtClean="0"/>
              <a:t>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91610" y="2808853"/>
            <a:ext cx="58535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/>
              <a:t>Which language is the fastest?</a:t>
            </a:r>
          </a:p>
        </p:txBody>
      </p:sp>
    </p:spTree>
    <p:extLst>
      <p:ext uri="{BB962C8B-B14F-4D97-AF65-F5344CB8AC3E}">
        <p14:creationId xmlns:p14="http://schemas.microsoft.com/office/powerpoint/2010/main" val="37074992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705730" y="0"/>
            <a:ext cx="47805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/>
              <a:t>Programming Languages</a:t>
            </a:r>
            <a:endParaRPr lang="en-US" sz="3600" dirty="0"/>
          </a:p>
        </p:txBody>
      </p:sp>
      <p:sp>
        <p:nvSpPr>
          <p:cNvPr id="7" name="TextBox 6"/>
          <p:cNvSpPr txBox="1"/>
          <p:nvPr/>
        </p:nvSpPr>
        <p:spPr>
          <a:xfrm>
            <a:off x="635427" y="1646663"/>
            <a:ext cx="2138983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 smtClean="0"/>
              <a:t>Java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 smtClean="0"/>
              <a:t>C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 smtClean="0"/>
              <a:t>C++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 smtClean="0"/>
              <a:t>Python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 smtClean="0"/>
              <a:t>Fortran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 err="1" smtClean="0"/>
              <a:t>Etc</a:t>
            </a:r>
            <a:r>
              <a:rPr lang="en-US" sz="3600" dirty="0" smtClean="0"/>
              <a:t>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8682" y="2200661"/>
            <a:ext cx="741556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i="1" dirty="0" smtClean="0"/>
              <a:t>NONE!</a:t>
            </a:r>
          </a:p>
          <a:p>
            <a:r>
              <a:rPr lang="en-US" sz="3600" dirty="0" smtClean="0"/>
              <a:t>For the vast majority of programs, the speed is typically dictated by the algorithms and the data structures implemented by the programmer</a:t>
            </a:r>
          </a:p>
        </p:txBody>
      </p:sp>
    </p:spTree>
    <p:extLst>
      <p:ext uri="{BB962C8B-B14F-4D97-AF65-F5344CB8AC3E}">
        <p14:creationId xmlns:p14="http://schemas.microsoft.com/office/powerpoint/2010/main" val="9626485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4440020" y="0"/>
            <a:ext cx="33889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/>
              <a:t>CPU Architecture</a:t>
            </a:r>
            <a:endParaRPr lang="en-US" sz="3600" dirty="0"/>
          </a:p>
        </p:txBody>
      </p:sp>
      <p:sp>
        <p:nvSpPr>
          <p:cNvPr id="6" name="Rounded Rectangle 5"/>
          <p:cNvSpPr/>
          <p:nvPr/>
        </p:nvSpPr>
        <p:spPr>
          <a:xfrm>
            <a:off x="1920801" y="2990320"/>
            <a:ext cx="720838" cy="69141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L1</a:t>
            </a:r>
            <a:endParaRPr lang="en-US" dirty="0"/>
          </a:p>
        </p:txBody>
      </p:sp>
      <p:sp>
        <p:nvSpPr>
          <p:cNvPr id="7" name="Rounded Rectangle 6"/>
          <p:cNvSpPr/>
          <p:nvPr/>
        </p:nvSpPr>
        <p:spPr>
          <a:xfrm>
            <a:off x="3515528" y="2712754"/>
            <a:ext cx="1299592" cy="12465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L2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405282" y="-13854"/>
            <a:ext cx="2786718" cy="687185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MAIN MEMORY (RAM)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262141" y="2746644"/>
            <a:ext cx="1178768" cy="11787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CPU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309679" y="4225636"/>
            <a:ext cx="10836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/>
              <a:t>16 – 32</a:t>
            </a:r>
          </a:p>
          <a:p>
            <a:pPr algn="ctr"/>
            <a:r>
              <a:rPr lang="en-US" dirty="0" smtClean="0"/>
              <a:t>Registers.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3610" y="4220711"/>
            <a:ext cx="173522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/>
              <a:t>32 KB</a:t>
            </a:r>
          </a:p>
          <a:p>
            <a:pPr algn="ctr"/>
            <a:r>
              <a:rPr lang="en-US" dirty="0" smtClean="0"/>
              <a:t>64 byte </a:t>
            </a:r>
          </a:p>
          <a:p>
            <a:pPr algn="ctr"/>
            <a:r>
              <a:rPr lang="en-US" dirty="0" smtClean="0"/>
              <a:t>cache-line</a:t>
            </a:r>
          </a:p>
          <a:p>
            <a:pPr algn="ctr"/>
            <a:endParaRPr lang="en-US" dirty="0"/>
          </a:p>
          <a:p>
            <a:pPr algn="ctr"/>
            <a:r>
              <a:rPr lang="en-US" dirty="0" smtClean="0"/>
              <a:t>4-5 cycle latency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3332981" y="4220711"/>
            <a:ext cx="1664687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/>
              <a:t>256 KB</a:t>
            </a:r>
          </a:p>
          <a:p>
            <a:pPr algn="ctr"/>
            <a:r>
              <a:rPr lang="en-US" dirty="0" smtClean="0"/>
              <a:t>64 byte </a:t>
            </a:r>
          </a:p>
          <a:p>
            <a:pPr algn="ctr"/>
            <a:r>
              <a:rPr lang="en-US" dirty="0" smtClean="0"/>
              <a:t>cache-line</a:t>
            </a:r>
          </a:p>
          <a:p>
            <a:pPr algn="ctr"/>
            <a:endParaRPr lang="en-US" dirty="0"/>
          </a:p>
          <a:p>
            <a:pPr algn="ctr"/>
            <a:r>
              <a:rPr lang="en-US" dirty="0" smtClean="0"/>
              <a:t>12 </a:t>
            </a:r>
            <a:r>
              <a:rPr lang="en-US" dirty="0"/>
              <a:t>cycle latency</a:t>
            </a:r>
          </a:p>
          <a:p>
            <a:pPr algn="ctr"/>
            <a:endParaRPr lang="en-US" dirty="0"/>
          </a:p>
        </p:txBody>
      </p:sp>
      <p:sp>
        <p:nvSpPr>
          <p:cNvPr id="13" name="Rounded Rectangle 12"/>
          <p:cNvSpPr/>
          <p:nvPr/>
        </p:nvSpPr>
        <p:spPr>
          <a:xfrm>
            <a:off x="5534906" y="2372006"/>
            <a:ext cx="2010088" cy="192804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L3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07606" y="4548801"/>
            <a:ext cx="166468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/>
              <a:t>8 MB</a:t>
            </a:r>
          </a:p>
          <a:p>
            <a:pPr algn="ctr"/>
            <a:r>
              <a:rPr lang="en-US" dirty="0" smtClean="0"/>
              <a:t>64 byte </a:t>
            </a:r>
          </a:p>
          <a:p>
            <a:pPr algn="ctr"/>
            <a:r>
              <a:rPr lang="en-US" dirty="0" smtClean="0"/>
              <a:t>cache-line</a:t>
            </a:r>
          </a:p>
          <a:p>
            <a:pPr algn="ctr"/>
            <a:r>
              <a:rPr lang="en-US" dirty="0" smtClean="0"/>
              <a:t>36 cycle latency</a:t>
            </a:r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8202147" y="5462004"/>
            <a:ext cx="13629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16 GB </a:t>
            </a:r>
          </a:p>
          <a:p>
            <a:pPr algn="ctr"/>
            <a:r>
              <a:rPr lang="en-US" dirty="0" smtClean="0"/>
              <a:t>36 cycle latency + </a:t>
            </a:r>
          </a:p>
          <a:p>
            <a:pPr algn="ctr"/>
            <a:r>
              <a:rPr lang="en-US" dirty="0" smtClean="0"/>
              <a:t>57 ns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262141" y="6408009"/>
            <a:ext cx="25935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 cycle ~ 300 picoseconds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9846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3705730" y="0"/>
            <a:ext cx="47334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/>
              <a:t>Our cluster nodes’ specs</a:t>
            </a:r>
            <a:endParaRPr lang="en-US" sz="36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3911" y="1214437"/>
            <a:ext cx="9394519" cy="4814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9001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Straight Connector 15"/>
          <p:cNvCxnSpPr/>
          <p:nvPr/>
        </p:nvCxnSpPr>
        <p:spPr>
          <a:xfrm>
            <a:off x="9523156" y="2417618"/>
            <a:ext cx="0" cy="281940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2189018" y="2341418"/>
            <a:ext cx="0" cy="281940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036618" y="2684318"/>
            <a:ext cx="304800" cy="3048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1046018" y="2652052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L1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36618" y="3598718"/>
            <a:ext cx="304800" cy="3048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1046018" y="3566452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L2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036618" y="4513118"/>
            <a:ext cx="304800" cy="3048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969818" y="4480852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RAM</a:t>
            </a:r>
          </a:p>
        </p:txBody>
      </p:sp>
      <p:pic>
        <p:nvPicPr>
          <p:cNvPr id="2050" name="Picture 2" descr="http://cdn.overclock.net/4/40/40f1c1d8_1a04d148dee1.jpe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837356" y="1579418"/>
            <a:ext cx="1352662" cy="762000"/>
          </a:xfrm>
          <a:prstGeom prst="rect">
            <a:avLst/>
          </a:prstGeom>
          <a:noFill/>
        </p:spPr>
      </p:pic>
      <p:sp>
        <p:nvSpPr>
          <p:cNvPr id="14" name="TextBox 13"/>
          <p:cNvSpPr txBox="1"/>
          <p:nvPr/>
        </p:nvSpPr>
        <p:spPr>
          <a:xfrm>
            <a:off x="3248530" y="152400"/>
            <a:ext cx="53997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/>
              <a:t>What does all of this mean?</a:t>
            </a:r>
            <a:endParaRPr lang="en-US" sz="3600" dirty="0"/>
          </a:p>
        </p:txBody>
      </p:sp>
      <p:sp>
        <p:nvSpPr>
          <p:cNvPr id="11" name="TextBox 10"/>
          <p:cNvSpPr txBox="1"/>
          <p:nvPr/>
        </p:nvSpPr>
        <p:spPr>
          <a:xfrm>
            <a:off x="8325364" y="6488668"/>
            <a:ext cx="38666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Andreas </a:t>
            </a:r>
            <a:r>
              <a:rPr lang="en-US" dirty="0" err="1" smtClean="0"/>
              <a:t>Fredriksson</a:t>
            </a:r>
            <a:r>
              <a:rPr lang="en-US" dirty="0" smtClean="0"/>
              <a:t> – Insomnia Games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0412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3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4.44444E-6 L 0.6 -4.44444E-6 " pathEditMode="relative" rAng="0" ptsTypes="AA">
                                      <p:cBhvr>
                                        <p:cTn id="12" dur="3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63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2.22222E-6 L 0.6 2.22222E-6 " pathEditMode="relative" rAng="0" ptsTypes="AA">
                                      <p:cBhvr>
                                        <p:cTn id="22" dur="2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63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1.11111E-6 L 0.6 -1.11111E-6 " pathEditMode="relative" rAng="0" ptsTypes="AA">
                                      <p:cBhvr>
                                        <p:cTn id="32" dur="1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8" grpId="0"/>
      <p:bldP spid="5" grpId="0" animBg="1"/>
      <p:bldP spid="5" grpId="1" animBg="1"/>
      <p:bldP spid="9" grpId="0"/>
      <p:bldP spid="4" grpId="0" animBg="1"/>
      <p:bldP spid="4" grpId="1" animBg="1"/>
      <p:bldP spid="1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14784" y="0"/>
            <a:ext cx="59326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/>
              <a:t>Cache-Friendly Data Structures</a:t>
            </a:r>
            <a:endParaRPr lang="en-US" sz="3600" dirty="0"/>
          </a:p>
        </p:txBody>
      </p:sp>
      <p:sp>
        <p:nvSpPr>
          <p:cNvPr id="3" name="TextBox 2"/>
          <p:cNvSpPr txBox="1"/>
          <p:nvPr/>
        </p:nvSpPr>
        <p:spPr>
          <a:xfrm>
            <a:off x="192082" y="1037063"/>
            <a:ext cx="11713271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 smtClean="0"/>
              <a:t>What is it?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US" sz="3600" dirty="0" smtClean="0"/>
              <a:t>Data containers that store data contiguously in memory.</a:t>
            </a:r>
            <a:endParaRPr lang="en-US" sz="3600" dirty="0"/>
          </a:p>
          <a:p>
            <a:pPr marL="1485900" lvl="2" indent="-571500">
              <a:buFont typeface="Arial" panose="020B0604020202020204" pitchFamily="34" charset="0"/>
              <a:buChar char="•"/>
            </a:pPr>
            <a:r>
              <a:rPr lang="en-US" sz="3600" dirty="0" smtClean="0"/>
              <a:t>Example: </a:t>
            </a:r>
          </a:p>
          <a:p>
            <a:pPr marL="1943100" lvl="3" indent="-571500">
              <a:buFont typeface="Arial" panose="020B0604020202020204" pitchFamily="34" charset="0"/>
              <a:buChar char="•"/>
            </a:pPr>
            <a:r>
              <a:rPr lang="en-US" sz="3600" dirty="0" smtClean="0"/>
              <a:t>Cache-friendly: C-arrays and C++ vectors</a:t>
            </a:r>
          </a:p>
          <a:p>
            <a:pPr marL="1943100" lvl="3" indent="-571500">
              <a:buFont typeface="Arial" panose="020B0604020202020204" pitchFamily="34" charset="0"/>
              <a:buChar char="•"/>
            </a:pPr>
            <a:r>
              <a:rPr lang="en-US" sz="3600" dirty="0" smtClean="0"/>
              <a:t>Cache-unfriendly: Linked Lists; Maps/Dictionaries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US" sz="3600" dirty="0" smtClean="0"/>
              <a:t>Decreases the chances of a </a:t>
            </a:r>
            <a:r>
              <a:rPr lang="en-US" sz="3600" i="1" dirty="0" smtClean="0"/>
              <a:t>cache miss</a:t>
            </a:r>
          </a:p>
          <a:p>
            <a:pPr marL="1485900" lvl="2" indent="-571500">
              <a:buFont typeface="Arial" panose="020B0604020202020204" pitchFamily="34" charset="0"/>
              <a:buChar char="•"/>
            </a:pPr>
            <a:endParaRPr lang="en-US" sz="3600" dirty="0" smtClean="0"/>
          </a:p>
        </p:txBody>
      </p:sp>
    </p:spTree>
    <p:extLst>
      <p:ext uri="{BB962C8B-B14F-4D97-AF65-F5344CB8AC3E}">
        <p14:creationId xmlns:p14="http://schemas.microsoft.com/office/powerpoint/2010/main" val="2088752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011684" y="0"/>
            <a:ext cx="42994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/>
              <a:t>What is a cache-miss?</a:t>
            </a:r>
            <a:endParaRPr lang="en-US" sz="36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25731"/>
            <a:ext cx="12192000" cy="47448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74494" y="6362700"/>
            <a:ext cx="1926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Scott Meyers 2014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86465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011684" y="0"/>
            <a:ext cx="51103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/>
              <a:t>Know your data structures</a:t>
            </a:r>
            <a:endParaRPr lang="en-US" sz="3600" dirty="0"/>
          </a:p>
        </p:txBody>
      </p:sp>
      <p:sp>
        <p:nvSpPr>
          <p:cNvPr id="5" name="TextBox 4"/>
          <p:cNvSpPr txBox="1"/>
          <p:nvPr/>
        </p:nvSpPr>
        <p:spPr>
          <a:xfrm>
            <a:off x="10074494" y="6362700"/>
            <a:ext cx="1926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Scott Meyers 2014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66255"/>
            <a:ext cx="5709247" cy="223543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3947" y="1866255"/>
            <a:ext cx="5708053" cy="223607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10651" y="4343400"/>
            <a:ext cx="20879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Row Major Traversal</a:t>
            </a:r>
          </a:p>
          <a:p>
            <a:pPr algn="ctr"/>
            <a:r>
              <a:rPr lang="en-US" b="1" dirty="0" smtClean="0"/>
              <a:t>C/C++!</a:t>
            </a:r>
            <a:endParaRPr lang="en-US" b="1" dirty="0"/>
          </a:p>
        </p:txBody>
      </p:sp>
      <p:sp>
        <p:nvSpPr>
          <p:cNvPr id="8" name="TextBox 7"/>
          <p:cNvSpPr txBox="1"/>
          <p:nvPr/>
        </p:nvSpPr>
        <p:spPr>
          <a:xfrm>
            <a:off x="8134085" y="4343400"/>
            <a:ext cx="24077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Column Major Traversal</a:t>
            </a:r>
          </a:p>
          <a:p>
            <a:pPr algn="ctr"/>
            <a:r>
              <a:rPr lang="en-US" b="1" dirty="0" smtClean="0"/>
              <a:t>Fortran!</a:t>
            </a:r>
            <a:endParaRPr lang="en-US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622300" y="5613400"/>
            <a:ext cx="99361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Using correct traversal pattern for your data structures: ~3-5x speed (depends on the size of your matrix)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77981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964184" y="101600"/>
            <a:ext cx="21237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/>
              <a:t>Take-away</a:t>
            </a:r>
            <a:endParaRPr lang="en-US" sz="3600" dirty="0"/>
          </a:p>
        </p:txBody>
      </p:sp>
      <p:sp>
        <p:nvSpPr>
          <p:cNvPr id="4" name="TextBox 3"/>
          <p:cNvSpPr txBox="1"/>
          <p:nvPr/>
        </p:nvSpPr>
        <p:spPr>
          <a:xfrm>
            <a:off x="0" y="843100"/>
            <a:ext cx="1166740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 smtClean="0"/>
              <a:t>Use cache-friendly data structures (Use arrays)!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 smtClean="0"/>
              <a:t>Try to avoid/limit searching through structures wherever/whenever possible.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 smtClean="0"/>
              <a:t> Every language has (or at least should) have a data structure that is contiguous.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 smtClean="0"/>
              <a:t>Use arrays!!!</a:t>
            </a:r>
          </a:p>
          <a:p>
            <a:pPr marL="1485900" lvl="2" indent="-571500">
              <a:buFont typeface="Arial" panose="020B0604020202020204" pitchFamily="34" charset="0"/>
              <a:buChar char="•"/>
            </a:pPr>
            <a:endParaRPr lang="en-US" sz="3600" dirty="0" smtClean="0"/>
          </a:p>
        </p:txBody>
      </p:sp>
    </p:spTree>
    <p:extLst>
      <p:ext uri="{BB962C8B-B14F-4D97-AF65-F5344CB8AC3E}">
        <p14:creationId xmlns:p14="http://schemas.microsoft.com/office/powerpoint/2010/main" val="3263140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855657" y="0"/>
            <a:ext cx="25834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/>
              <a:t>Data Locality</a:t>
            </a:r>
            <a:endParaRPr lang="en-US" sz="3600" dirty="0"/>
          </a:p>
        </p:txBody>
      </p:sp>
      <p:sp>
        <p:nvSpPr>
          <p:cNvPr id="3" name="TextBox 2"/>
          <p:cNvSpPr txBox="1"/>
          <p:nvPr/>
        </p:nvSpPr>
        <p:spPr>
          <a:xfrm>
            <a:off x="0" y="843100"/>
            <a:ext cx="1166740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 smtClean="0"/>
              <a:t>Working with the idea of cache-locality, if we’re optimizing for speed, we should pack our data that is </a:t>
            </a:r>
            <a:r>
              <a:rPr lang="en-US" sz="3600" i="1" dirty="0" smtClean="0"/>
              <a:t>optimal for our architecture</a:t>
            </a:r>
            <a:r>
              <a:rPr lang="en-US" sz="3600" dirty="0" smtClean="0"/>
              <a:t> not for our understanding.</a:t>
            </a:r>
            <a:endParaRPr lang="en-US" sz="3600" i="1" dirty="0" smtClean="0"/>
          </a:p>
          <a:p>
            <a:pPr marL="1485900" lvl="2" indent="-571500">
              <a:buFont typeface="Arial" panose="020B0604020202020204" pitchFamily="34" charset="0"/>
              <a:buChar char="•"/>
            </a:pPr>
            <a:endParaRPr lang="en-US" sz="3600" dirty="0" smtClean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6957" y="2595134"/>
            <a:ext cx="6620799" cy="315321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804" y="6200775"/>
            <a:ext cx="11353800" cy="6572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56804" y="5845730"/>
            <a:ext cx="8626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Atom 1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2995254" y="5839658"/>
            <a:ext cx="8626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Atom 2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5833704" y="5831443"/>
            <a:ext cx="8626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Atom 3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8671585" y="5831443"/>
            <a:ext cx="8626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Atom 4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9862407" y="5000446"/>
            <a:ext cx="243230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Red: Atom’s X; Blue: Atom’s Y; Green: Atom’s Z</a:t>
            </a:r>
            <a:endParaRPr lang="en-US" sz="2400" dirty="0"/>
          </a:p>
        </p:txBody>
      </p:sp>
      <p:sp>
        <p:nvSpPr>
          <p:cNvPr id="15" name="TextBox 14"/>
          <p:cNvSpPr txBox="1"/>
          <p:nvPr/>
        </p:nvSpPr>
        <p:spPr>
          <a:xfrm>
            <a:off x="11509466" y="6200775"/>
            <a:ext cx="4683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/>
              <a:t>…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409323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0" y="6207991"/>
            <a:ext cx="72615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Time spent on my i7 4770k </a:t>
            </a:r>
            <a:r>
              <a:rPr lang="en-US" sz="2800" dirty="0" err="1" smtClean="0"/>
              <a:t>cpu</a:t>
            </a:r>
            <a:r>
              <a:rPr lang="en-US" sz="2800" dirty="0" smtClean="0"/>
              <a:t>: 3 min and 1 sec.</a:t>
            </a:r>
            <a:endParaRPr lang="en-US" sz="2800" dirty="0"/>
          </a:p>
        </p:txBody>
      </p:sp>
      <p:sp>
        <p:nvSpPr>
          <p:cNvPr id="9" name="TextBox 8"/>
          <p:cNvSpPr txBox="1"/>
          <p:nvPr/>
        </p:nvSpPr>
        <p:spPr>
          <a:xfrm>
            <a:off x="2893092" y="0"/>
            <a:ext cx="64009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/>
              <a:t>Distance Calculations Approach 1</a:t>
            </a:r>
            <a:endParaRPr lang="en-US" sz="3600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90374"/>
            <a:ext cx="12192000" cy="4000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22222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6144491"/>
            <a:ext cx="53988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Time spent on my i7 4770k </a:t>
            </a:r>
            <a:r>
              <a:rPr lang="en-US" sz="2800" dirty="0" err="1" smtClean="0"/>
              <a:t>cpu</a:t>
            </a:r>
            <a:r>
              <a:rPr lang="en-US" sz="2800" dirty="0" smtClean="0"/>
              <a:t>: ???</a:t>
            </a:r>
            <a:endParaRPr lang="en-US" sz="2800" dirty="0"/>
          </a:p>
        </p:txBody>
      </p:sp>
      <p:sp>
        <p:nvSpPr>
          <p:cNvPr id="8" name="TextBox 7"/>
          <p:cNvSpPr txBox="1"/>
          <p:nvPr/>
        </p:nvSpPr>
        <p:spPr>
          <a:xfrm>
            <a:off x="8821380" y="2194791"/>
            <a:ext cx="3370619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New Approach </a:t>
            </a:r>
            <a:r>
              <a:rPr lang="en-US" sz="2800" b="1" dirty="0" smtClean="0"/>
              <a:t>creates</a:t>
            </a:r>
            <a:r>
              <a:rPr lang="en-US" sz="2800" dirty="0" smtClean="0"/>
              <a:t> 3 additional containers </a:t>
            </a:r>
            <a:r>
              <a:rPr lang="en-US" sz="2800" b="1" dirty="0" smtClean="0"/>
              <a:t>and</a:t>
            </a:r>
            <a:r>
              <a:rPr lang="en-US" sz="2800" dirty="0" smtClean="0"/>
              <a:t> performs N*3 </a:t>
            </a:r>
            <a:r>
              <a:rPr lang="en-US" sz="2800" b="1" dirty="0" smtClean="0"/>
              <a:t>copies</a:t>
            </a:r>
            <a:r>
              <a:rPr lang="en-US" sz="2800" dirty="0" smtClean="0"/>
              <a:t> every iteration</a:t>
            </a:r>
            <a:endParaRPr lang="en-US" sz="2800" dirty="0"/>
          </a:p>
        </p:txBody>
      </p:sp>
      <p:sp>
        <p:nvSpPr>
          <p:cNvPr id="9" name="TextBox 8"/>
          <p:cNvSpPr txBox="1"/>
          <p:nvPr/>
        </p:nvSpPr>
        <p:spPr>
          <a:xfrm>
            <a:off x="2893092" y="0"/>
            <a:ext cx="64009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/>
              <a:t>Distance Calculations Approach 2</a:t>
            </a:r>
            <a:endParaRPr lang="en-US" sz="3600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46029"/>
            <a:ext cx="8877389" cy="4544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04674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hart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57940840"/>
              </p:ext>
            </p:extLst>
          </p:nvPr>
        </p:nvGraphicFramePr>
        <p:xfrm>
          <a:off x="374073" y="0"/>
          <a:ext cx="11436926" cy="68621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682315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62632"/>
            <a:ext cx="12192000" cy="201375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1048" y="4276391"/>
            <a:ext cx="59422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Red: Atom’s X; Blue: Atom’s Y; Green: Atom’s Z</a:t>
            </a:r>
            <a:endParaRPr lang="en-US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4030157" y="0"/>
            <a:ext cx="49678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/>
              <a:t>Revising our Data Locality</a:t>
            </a:r>
            <a:endParaRPr lang="en-US" sz="3600" dirty="0"/>
          </a:p>
        </p:txBody>
      </p:sp>
      <p:sp>
        <p:nvSpPr>
          <p:cNvPr id="7" name="TextBox 6"/>
          <p:cNvSpPr txBox="1"/>
          <p:nvPr/>
        </p:nvSpPr>
        <p:spPr>
          <a:xfrm>
            <a:off x="153732" y="5250594"/>
            <a:ext cx="1092158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Why?</a:t>
            </a:r>
          </a:p>
          <a:p>
            <a:r>
              <a:rPr lang="en-US" sz="2400" dirty="0" smtClean="0"/>
              <a:t>We are packing the cache line with relevant data. Less opportunities for cache-misses.</a:t>
            </a:r>
            <a:endParaRPr lang="en-US" sz="240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732" y="1210480"/>
            <a:ext cx="11353800" cy="6572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53732" y="855435"/>
            <a:ext cx="8626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Atom 1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2992182" y="849363"/>
            <a:ext cx="8626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Atom 2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830632" y="841148"/>
            <a:ext cx="8626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Atom 3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68513" y="841148"/>
            <a:ext cx="8626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Atom 4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1506394" y="1210480"/>
            <a:ext cx="4683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/>
              <a:t>…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970754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964184" y="101600"/>
            <a:ext cx="21237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/>
              <a:t>Take-away</a:t>
            </a:r>
            <a:endParaRPr lang="en-US" sz="360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843100"/>
            <a:ext cx="1166740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 smtClean="0"/>
              <a:t>Use </a:t>
            </a:r>
            <a:r>
              <a:rPr lang="en-US" sz="3600" i="1" dirty="0" smtClean="0"/>
              <a:t>packed </a:t>
            </a:r>
            <a:r>
              <a:rPr lang="en-US" sz="3600" dirty="0" smtClean="0"/>
              <a:t>arrays!</a:t>
            </a:r>
            <a:endParaRPr lang="en-US" sz="36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i="1" dirty="0" smtClean="0"/>
              <a:t>Reason</a:t>
            </a:r>
            <a:r>
              <a:rPr lang="en-US" sz="3600" dirty="0" smtClean="0"/>
              <a:t> yourself as to why you have your data structured the way they are. Is it convenience for you? Are you thinking about your architecture?</a:t>
            </a:r>
            <a:endParaRPr lang="en-US" sz="3600" i="1" dirty="0" smtClean="0"/>
          </a:p>
        </p:txBody>
      </p:sp>
    </p:spTree>
    <p:extLst>
      <p:ext uri="{BB962C8B-B14F-4D97-AF65-F5344CB8AC3E}">
        <p14:creationId xmlns:p14="http://schemas.microsoft.com/office/powerpoint/2010/main" val="34657607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36984" y="0"/>
            <a:ext cx="59326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/>
              <a:t>Cache-Friendly Data Structures</a:t>
            </a:r>
            <a:endParaRPr lang="en-US" sz="36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6063" y="788707"/>
            <a:ext cx="8534492" cy="606929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25727" y="2057400"/>
            <a:ext cx="5180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/>
              <a:t>1)</a:t>
            </a:r>
            <a:endParaRPr lang="en-US" sz="3200" dirty="0"/>
          </a:p>
        </p:txBody>
      </p:sp>
      <p:sp>
        <p:nvSpPr>
          <p:cNvPr id="7" name="TextBox 6"/>
          <p:cNvSpPr txBox="1"/>
          <p:nvPr/>
        </p:nvSpPr>
        <p:spPr>
          <a:xfrm>
            <a:off x="1185652" y="4622800"/>
            <a:ext cx="5180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/>
              <a:t>2)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3453651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36984" y="0"/>
            <a:ext cx="59326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/>
              <a:t>Cache-Friendly Data Structures</a:t>
            </a:r>
            <a:endParaRPr lang="en-US" sz="36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39800"/>
            <a:ext cx="9599709" cy="53721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15500" y="1206500"/>
            <a:ext cx="14785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100 iterations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9715500" y="1714500"/>
            <a:ext cx="226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Pulls a </a:t>
            </a:r>
            <a:r>
              <a:rPr lang="en-US" dirty="0" err="1" smtClean="0"/>
              <a:t>seq</a:t>
            </a:r>
            <a:r>
              <a:rPr lang="en-US" dirty="0" smtClean="0"/>
              <a:t> from a list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9599709" y="2499499"/>
            <a:ext cx="2260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Iterate through every amino acid in </a:t>
            </a:r>
            <a:r>
              <a:rPr lang="en-US" dirty="0" err="1" smtClean="0"/>
              <a:t>seq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9599709" y="3746331"/>
            <a:ext cx="2260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Sum the </a:t>
            </a:r>
            <a:r>
              <a:rPr lang="en-US" dirty="0" err="1" smtClean="0"/>
              <a:t>blosum</a:t>
            </a:r>
            <a:r>
              <a:rPr lang="en-US" dirty="0" smtClean="0"/>
              <a:t> value of all amino acids vs the current amino acid.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9715500" y="5778415"/>
            <a:ext cx="226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Output sum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053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36984" y="0"/>
            <a:ext cx="59326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/>
              <a:t>Cache-Friendly Data Structures</a:t>
            </a:r>
            <a:endParaRPr lang="en-US" sz="3600" dirty="0"/>
          </a:p>
        </p:txBody>
      </p:sp>
      <p:graphicFrame>
        <p:nvGraphicFramePr>
          <p:cNvPr id="10" name="Chart 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78169669"/>
              </p:ext>
            </p:extLst>
          </p:nvPr>
        </p:nvGraphicFramePr>
        <p:xfrm>
          <a:off x="393701" y="1002982"/>
          <a:ext cx="9745662" cy="58473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016905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964184" y="101600"/>
            <a:ext cx="21237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/>
              <a:t>Take-away</a:t>
            </a:r>
            <a:endParaRPr lang="en-US" sz="3600" dirty="0"/>
          </a:p>
        </p:txBody>
      </p:sp>
      <p:sp>
        <p:nvSpPr>
          <p:cNvPr id="4" name="TextBox 3"/>
          <p:cNvSpPr txBox="1"/>
          <p:nvPr/>
        </p:nvSpPr>
        <p:spPr>
          <a:xfrm>
            <a:off x="0" y="843100"/>
            <a:ext cx="1166740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 smtClean="0"/>
              <a:t>Use arrays!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 smtClean="0"/>
              <a:t>Try to avoid searching through structures wherever/whenever possible.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 smtClean="0"/>
              <a:t>Every language has (or at least should) have a data structure that is contiguous.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 smtClean="0"/>
              <a:t>Use arrays!!!</a:t>
            </a:r>
          </a:p>
          <a:p>
            <a:pPr marL="1485900" lvl="2" indent="-571500">
              <a:buFont typeface="Arial" panose="020B0604020202020204" pitchFamily="34" charset="0"/>
              <a:buChar char="•"/>
            </a:pPr>
            <a:endParaRPr lang="en-US" sz="3600" dirty="0" smtClean="0"/>
          </a:p>
        </p:txBody>
      </p:sp>
    </p:spTree>
    <p:extLst>
      <p:ext uri="{BB962C8B-B14F-4D97-AF65-F5344CB8AC3E}">
        <p14:creationId xmlns:p14="http://schemas.microsoft.com/office/powerpoint/2010/main" val="16574377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864047" y="0"/>
            <a:ext cx="45693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/>
              <a:t>Rot Align Optimizations</a:t>
            </a:r>
            <a:endParaRPr lang="en-US" sz="3600" dirty="0"/>
          </a:p>
        </p:txBody>
      </p:sp>
      <p:sp>
        <p:nvSpPr>
          <p:cNvPr id="6" name="TextBox 5"/>
          <p:cNvSpPr txBox="1"/>
          <p:nvPr/>
        </p:nvSpPr>
        <p:spPr>
          <a:xfrm>
            <a:off x="0" y="843100"/>
            <a:ext cx="1166740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 smtClean="0"/>
              <a:t>Turn on optimizations (-O2)</a:t>
            </a:r>
            <a:endParaRPr lang="en-US" sz="36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 smtClean="0"/>
              <a:t>Matrix revision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US" sz="3600" dirty="0" smtClean="0"/>
              <a:t>Original: </a:t>
            </a:r>
            <a:r>
              <a:rPr lang="en-US" sz="3600" dirty="0" err="1" smtClean="0"/>
              <a:t>int</a:t>
            </a:r>
            <a:r>
              <a:rPr lang="en-US" sz="3600" dirty="0" smtClean="0"/>
              <a:t>** matrix;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US" sz="3600" dirty="0" smtClean="0"/>
              <a:t>New: </a:t>
            </a:r>
            <a:r>
              <a:rPr lang="en-US" sz="3600" dirty="0" err="1" smtClean="0"/>
              <a:t>int</a:t>
            </a:r>
            <a:r>
              <a:rPr lang="en-US" sz="3600" dirty="0" smtClean="0"/>
              <a:t>* matrix;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 smtClean="0"/>
              <a:t>Fragments represented as string pointers/references instead of a copy of a part of a string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379053" y="3994524"/>
            <a:ext cx="506888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QAVDILYAEETLRN</a:t>
            </a:r>
            <a:endParaRPr lang="en-US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136636" y="4652958"/>
            <a:ext cx="2341648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VDILYA</a:t>
            </a:r>
            <a:endParaRPr lang="en-US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646378" y="3994524"/>
            <a:ext cx="506888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QAVDILYAEETLRN</a:t>
            </a:r>
            <a:endParaRPr lang="en-US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1" name="Down Arrow 10"/>
          <p:cNvSpPr/>
          <p:nvPr/>
        </p:nvSpPr>
        <p:spPr>
          <a:xfrm rot="10800000">
            <a:off x="6686549" y="4917854"/>
            <a:ext cx="200026" cy="93555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Down Arrow 11"/>
          <p:cNvSpPr/>
          <p:nvPr/>
        </p:nvSpPr>
        <p:spPr>
          <a:xfrm rot="10800000">
            <a:off x="8180822" y="4917854"/>
            <a:ext cx="200026" cy="93555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09537" y="5853411"/>
            <a:ext cx="1166740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800" dirty="0" smtClean="0"/>
              <a:t>All template fragments can now be pre-calculated and stored since it doesn’t consume much memory</a:t>
            </a:r>
          </a:p>
        </p:txBody>
      </p:sp>
    </p:spTree>
    <p:extLst>
      <p:ext uri="{BB962C8B-B14F-4D97-AF65-F5344CB8AC3E}">
        <p14:creationId xmlns:p14="http://schemas.microsoft.com/office/powerpoint/2010/main" val="3612504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41567606"/>
              </p:ext>
            </p:extLst>
          </p:nvPr>
        </p:nvGraphicFramePr>
        <p:xfrm>
          <a:off x="373592" y="0"/>
          <a:ext cx="11499321" cy="685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0526321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964184" y="101600"/>
            <a:ext cx="21237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/>
              <a:t>Take-away</a:t>
            </a:r>
            <a:endParaRPr lang="en-US" sz="3600" dirty="0"/>
          </a:p>
        </p:txBody>
      </p:sp>
      <p:sp>
        <p:nvSpPr>
          <p:cNvPr id="4" name="TextBox 3"/>
          <p:cNvSpPr txBox="1"/>
          <p:nvPr/>
        </p:nvSpPr>
        <p:spPr>
          <a:xfrm>
            <a:off x="4964184" y="2757625"/>
            <a:ext cx="21574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/>
              <a:t>Use arrays</a:t>
            </a:r>
          </a:p>
        </p:txBody>
      </p:sp>
    </p:spTree>
    <p:extLst>
      <p:ext uri="{BB962C8B-B14F-4D97-AF65-F5344CB8AC3E}">
        <p14:creationId xmlns:p14="http://schemas.microsoft.com/office/powerpoint/2010/main" val="29644199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7610</TotalTime>
  <Words>621</Words>
  <Application>Microsoft Office PowerPoint</Application>
  <PresentationFormat>Widescreen</PresentationFormat>
  <Paragraphs>141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Calibri</vt:lpstr>
      <vt:lpstr>Calibri Light</vt:lpstr>
      <vt:lpstr>Office Theme</vt:lpstr>
      <vt:lpstr>Programming &amp; You A presentation that I wish I had when I joined this lab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Programming &amp; You (I) A presentation that I wish I had when I joined this lab</dc:title>
  <dc:creator>Jarrett J.</dc:creator>
  <cp:lastModifiedBy>Jarrett J.</cp:lastModifiedBy>
  <cp:revision>36</cp:revision>
  <dcterms:created xsi:type="dcterms:W3CDTF">2017-11-04T21:29:17Z</dcterms:created>
  <dcterms:modified xsi:type="dcterms:W3CDTF">2018-02-18T11:32:01Z</dcterms:modified>
</cp:coreProperties>
</file>